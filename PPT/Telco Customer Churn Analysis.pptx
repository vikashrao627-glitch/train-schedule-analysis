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1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4261"/>
            <a:ext cx="5715000" cy="63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49438"/>
            <a:ext cx="7671271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0" i="0" u="none">
                <a:solidFill>
                  <a:srgbClr val="FFFFFF"/>
                </a:solidFill>
                <a:latin typeface="Plus Jakarta Sans ExtraBold"/>
              </a:rPr>
              <a:t>Telco Customer Churn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93281"/>
            <a:ext cx="749617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Understanding Customer Churn Patterns and Retention Opportunities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25563"/>
            <a:ext cx="2066925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32386"/>
            <a:ext cx="40005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4437161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6850" y="4332386"/>
            <a:ext cx="27717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8FAFC"/>
                </a:solidFill>
                <a:latin typeface="Inter SemiBold"/>
              </a:rPr>
              <a:t>Python-based Customer Churn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50" y="4546699"/>
            <a:ext cx="2771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Data Analyst Portfolio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2650" y="6524625"/>
            <a:ext cx="1885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 Medium"/>
              </a:rPr>
              <a:t>TELCO ANALYTICS PORTFOLIO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6CBB4-7AE9-4AB5-ADCC-3657E5DAE6A0}"/>
              </a:ext>
            </a:extLst>
          </p:cNvPr>
          <p:cNvSpPr txBox="1"/>
          <p:nvPr/>
        </p:nvSpPr>
        <p:spPr>
          <a:xfrm>
            <a:off x="8410575" y="6139904"/>
            <a:ext cx="3813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lgerian" panose="04020705040A02060702" pitchFamily="82" charset="0"/>
              </a:rPr>
              <a:t>Vikash Rao</a:t>
            </a:r>
            <a:endParaRPr lang="en-IN" sz="4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07158"/>
            <a:ext cx="5372100" cy="24342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71637"/>
            <a:ext cx="5372100" cy="1266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090862"/>
            <a:ext cx="5372100" cy="1266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510087"/>
            <a:ext cx="5372100" cy="1266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821483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469183"/>
            <a:ext cx="498062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Core 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850183"/>
            <a:ext cx="47434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1E40AF"/>
                </a:solidFill>
                <a:latin typeface="Inter"/>
              </a:rPr>
              <a:t>The primary goal of this project is to analyze customer churn in a telecom company to understand why customers leave and identify specific customer groups with higher churn risk.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2945308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5526" y="1909762"/>
            <a:ext cx="481419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Risk Identification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243137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Identify high-risk customer segments based on behavioral and demographic factors.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6951" y="3328987"/>
            <a:ext cx="484419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Multi-Dimensional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662362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Evaluate tenure, demographics, payment methods, contract types, and monthly charges against churn behavior.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9801" y="4748212"/>
            <a:ext cx="4904206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Actionable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5081587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Convert analytical findings into data-driven business recommendations to boost customer retention.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1933575"/>
            <a:ext cx="215651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5" y="3352800"/>
            <a:ext cx="18707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625" y="4772025"/>
            <a:ext cx="129926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Business Understanding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7460" y="6524625"/>
            <a:ext cx="54113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038350"/>
            <a:ext cx="8153400" cy="3371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38400"/>
            <a:ext cx="2667000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800475"/>
            <a:ext cx="2667000" cy="1209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44404" y="2314575"/>
            <a:ext cx="770486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Key Attributes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737" y="2714625"/>
            <a:ext cx="10763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2563EB"/>
                </a:solidFill>
                <a:latin typeface="Plus Jakarta Sans ExtraBold"/>
              </a:rPr>
              <a:t>7,043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858" y="3209925"/>
            <a:ext cx="152593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CUSTOMER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1637" y="4076700"/>
            <a:ext cx="3905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1E293B"/>
                </a:solidFill>
                <a:latin typeface="Plus Jakarta Sans ExtraBold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755" y="4572000"/>
            <a:ext cx="212228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COLUMNS (AFTER CLEANING)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425" y="2338387"/>
            <a:ext cx="167729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2743200"/>
            <a:ext cx="3724275" cy="6953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0" y="2743200"/>
            <a:ext cx="3724275" cy="695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3590925"/>
            <a:ext cx="3724275" cy="6953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0" y="3590925"/>
            <a:ext cx="3724275" cy="6953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4438650"/>
            <a:ext cx="3724275" cy="6953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0" y="4438650"/>
            <a:ext cx="3724275" cy="6953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24300" y="2886075"/>
            <a:ext cx="3438525" cy="1809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Churn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3133725"/>
            <a:ext cx="2676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Target variable indicating customer departure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0975" y="2886075"/>
            <a:ext cx="3438525" cy="1809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Customer Tenure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0975" y="3133725"/>
            <a:ext cx="2133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Number of months customer stayed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300" y="3733800"/>
            <a:ext cx="3438525" cy="18097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Demographic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4300" y="3981450"/>
            <a:ext cx="248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Gender, senior citizen status, dependents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0975" y="3733800"/>
            <a:ext cx="3438525" cy="18097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Contract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0975" y="3981450"/>
            <a:ext cx="2362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Month-to-month, one-year, or two-year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4300" y="4581525"/>
            <a:ext cx="3438525" cy="18097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Payment 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4300" y="4829175"/>
            <a:ext cx="2543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Electronic check, credit card, bank 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0975" y="4581525"/>
            <a:ext cx="3438525" cy="18097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Charges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975" y="4829175"/>
            <a:ext cx="2828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Monthly charges and accumulated total charges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3464" y="2905125"/>
            <a:ext cx="1809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7869" y="2905125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2862" y="3752850"/>
            <a:ext cx="16192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049" y="3752850"/>
            <a:ext cx="1047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8191" y="4581524"/>
            <a:ext cx="1619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8112" y="4600575"/>
            <a:ext cx="10477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Dataset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7935" y="6524625"/>
            <a:ext cx="55066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93131"/>
            <a:ext cx="11125200" cy="1385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45718"/>
            <a:ext cx="3555950" cy="1409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3845718"/>
            <a:ext cx="3555950" cy="1409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00" y="3845718"/>
            <a:ext cx="3556099" cy="1409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2393156"/>
            <a:ext cx="10725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1" i="0" u="none">
                <a:solidFill>
                  <a:srgbClr val="64748B"/>
                </a:solidFill>
                <a:latin typeface="Inter"/>
              </a:rPr>
              <a:t>DATA CLEANING WORKFLOW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801" y="4083843"/>
            <a:ext cx="295724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417218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Identified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11 blank values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in TotalCharges. These belonged to new customers with zero tenure, so they were safely converted and set to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302" y="4083843"/>
            <a:ext cx="2977247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Duplicate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4417218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Evaluated dataset for duplicate rows and customer IDs.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No duplicate records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were found in the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1527" y="4083843"/>
            <a:ext cx="290739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Standardization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0625" y="4417218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Standardized all column names to lowercase and converted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TotalCharges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column into proper numerical data type.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107656"/>
            <a:ext cx="168026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075" y="4107656"/>
            <a:ext cx="14897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4107656"/>
            <a:ext cx="215651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Data Cleaning &amp; 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7935" y="6524625"/>
            <a:ext cx="55066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028950"/>
            <a:ext cx="11125200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52575"/>
            <a:ext cx="2638425" cy="113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25" y="1552575"/>
            <a:ext cx="2638425" cy="1133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552575"/>
            <a:ext cx="2638425" cy="1133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175" y="1552575"/>
            <a:ext cx="2638425" cy="1133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714750"/>
            <a:ext cx="1057275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1951" y="3305175"/>
            <a:ext cx="1080494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Visual Churn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450" y="1790700"/>
            <a:ext cx="10763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1E293B"/>
                </a:solidFill>
                <a:latin typeface="Plus Jakarta Sans ExtraBold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5381" y="2286000"/>
            <a:ext cx="141446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TOTAL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1475" y="1790700"/>
            <a:ext cx="10001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DC2626"/>
                </a:solidFill>
                <a:latin typeface="Plus Jakarta Sans ExtraBold"/>
              </a:rPr>
              <a:t>1,869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2833" y="2286000"/>
            <a:ext cx="163740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CHURNED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4687" y="1790700"/>
            <a:ext cx="9715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2563EB"/>
                </a:solidFill>
                <a:latin typeface="Plus Jakarta Sans ExtraBold"/>
              </a:rPr>
              <a:t>5,174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8335" y="2286000"/>
            <a:ext cx="164410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RETAINED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6912" y="1790700"/>
            <a:ext cx="15049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DC2626"/>
                </a:solidFill>
                <a:latin typeface="Plus Jakarta Sans ExtraBold"/>
              </a:rPr>
              <a:t>26.54%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6310" y="2286000"/>
            <a:ext cx="160600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OVERALL CHURN RATE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3328987"/>
            <a:ext cx="187076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81487" y="4948237"/>
            <a:ext cx="59150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Over a quarter of the total customer base has departed, indicating significant business impact.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1487" y="420528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8187" y="4186237"/>
            <a:ext cx="2714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Churned Customers: </a:t>
            </a:r>
            <a:r>
              <a:rPr sz="1200" b="0" i="0" u="none">
                <a:solidFill>
                  <a:srgbClr val="1E293B"/>
                </a:solidFill>
                <a:latin typeface="Inter Black"/>
              </a:rPr>
              <a:t>1,869</a:t>
            </a:r>
            <a:r>
              <a:rPr sz="1200" b="0" i="0" u="none">
                <a:solidFill>
                  <a:srgbClr val="1E293B"/>
                </a:solidFill>
                <a:latin typeface="Inter SemiBold"/>
              </a:rPr>
              <a:t> (26.54%)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1487" y="454818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8187" y="4529137"/>
            <a:ext cx="2686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Retained Customers: </a:t>
            </a:r>
            <a:r>
              <a:rPr sz="1200" b="0" i="0" u="none">
                <a:solidFill>
                  <a:srgbClr val="1E293B"/>
                </a:solidFill>
                <a:latin typeface="Inter Black"/>
              </a:rPr>
              <a:t>5,174</a:t>
            </a:r>
            <a:r>
              <a:rPr sz="1200" b="0" i="0" u="none">
                <a:solidFill>
                  <a:srgbClr val="1E293B"/>
                </a:solidFill>
                <a:latin typeface="Inter SemiBold"/>
              </a:rPr>
              <a:t> (73.46%)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Customer Churn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17460" y="6524625"/>
            <a:ext cx="54113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62150"/>
            <a:ext cx="11125200" cy="3524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62150"/>
            <a:ext cx="5429250" cy="1019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14675"/>
            <a:ext cx="5429250" cy="1019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267200"/>
            <a:ext cx="542925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9048" y="2143125"/>
            <a:ext cx="5063757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Churn &amp; Proportion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2400300"/>
            <a:ext cx="5067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majority of customers have not churned, while a substantial smaller proportion (26.54%) accounts for overall churned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148" y="3295650"/>
            <a:ext cx="502375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Tenure Variation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3552825"/>
            <a:ext cx="5067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Customer tenure varies considerably across the dataset, ranging from newly joined users to long-term accounts.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898" y="4448175"/>
            <a:ext cx="512376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Monthly &amp; Total Charges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705350"/>
            <a:ext cx="5067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Monthly charges vary across customers and show notable differences between churned and non-churned groups. Total charges exhibit a wider distribution reflecting tenure length.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166937"/>
            <a:ext cx="149423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319462"/>
            <a:ext cx="187523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471987"/>
            <a:ext cx="92273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Exploratory Data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7935" y="6524625"/>
            <a:ext cx="55066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28762"/>
            <a:ext cx="11125200" cy="439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528762"/>
            <a:ext cx="5410200" cy="1447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128962"/>
            <a:ext cx="5410200" cy="1447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4729162"/>
            <a:ext cx="5410200" cy="1190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1766887"/>
            <a:ext cx="990600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15100" y="2062162"/>
            <a:ext cx="5150643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0–12 Months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338387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Highest churn rate recorded at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47.44%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 Nearly half of all new customers leave within their first year.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3367087"/>
            <a:ext cx="971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5100" y="3662362"/>
            <a:ext cx="5150643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37+ Months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938587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Lowest churn rate recorded at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11.93%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 Retention stabilizes significantly as tenure increases.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098" y="4967287"/>
            <a:ext cx="496374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lus Jakarta Sans"/>
              </a:rPr>
              <a:t>Key 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528161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5803D"/>
                </a:solidFill>
                <a:latin typeface="Inter"/>
              </a:rPr>
              <a:t>Early-stage customer engagement represents the single largest retention opportunity.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4991100"/>
            <a:ext cx="111323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Customer Lifecycle and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17460" y="6524625"/>
            <a:ext cx="54113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21693"/>
            <a:ext cx="11125200" cy="2271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622006"/>
            <a:ext cx="11125200" cy="704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121693"/>
            <a:ext cx="5410200" cy="2271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988468"/>
            <a:ext cx="49339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3588543"/>
            <a:ext cx="49339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988468"/>
            <a:ext cx="2056358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588543"/>
            <a:ext cx="1164877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4860131"/>
            <a:ext cx="10648950" cy="2286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991B1B"/>
                </a:solidFill>
                <a:latin typeface="Inter"/>
              </a:rPr>
              <a:t>Key Demographic Takeaway: Senior citizens show a substantially higher churn rate (41.68%) compared to non-senior citizens (23.61%).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2359818"/>
            <a:ext cx="5180647" cy="219075"/>
          </a:xfrm>
          <a:prstGeom prst="rect">
            <a:avLst/>
          </a:prstGeom>
          <a:noFill/>
        </p:spPr>
        <p:txBody>
          <a:bodyPr wrap="square" lIns="148976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Senior Citizen Status vs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969543"/>
            <a:ext cx="49339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DC2626"/>
                </a:solidFill>
                <a:latin typeface="Inter SemiBold"/>
              </a:rPr>
              <a:t>Senior citizens experience a substantially higher churn rate (+18.07%).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898231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2397918"/>
            <a:ext cx="148976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86525" y="2769393"/>
            <a:ext cx="49339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Senior Citizens </a:t>
            </a:r>
            <a:r>
              <a:rPr sz="1050" b="0" i="0" u="none">
                <a:solidFill>
                  <a:srgbClr val="DC2626"/>
                </a:solidFill>
                <a:latin typeface="Inter SemiBold"/>
              </a:rPr>
              <a:t>41.68%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369468"/>
            <a:ext cx="49339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Non-Senior Citizens 23.61%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Demographic Churn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7935" y="6524625"/>
            <a:ext cx="55066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14550"/>
            <a:ext cx="1112520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114550"/>
            <a:ext cx="5429250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781550"/>
            <a:ext cx="5467350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4781550"/>
            <a:ext cx="546735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2924175"/>
            <a:ext cx="49530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3524250"/>
            <a:ext cx="49530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4124325"/>
            <a:ext cx="49530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924175"/>
            <a:ext cx="2115294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524250"/>
            <a:ext cx="55810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4124325"/>
            <a:ext cx="140047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67475" y="2352675"/>
            <a:ext cx="5200650" cy="200025"/>
          </a:xfrm>
          <a:prstGeom prst="rect">
            <a:avLst/>
          </a:prstGeom>
          <a:noFill/>
        </p:spPr>
        <p:txBody>
          <a:bodyPr wrap="square" lIns="111323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Contract Type 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4905375"/>
            <a:ext cx="1276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91B1B"/>
                </a:solidFill>
                <a:latin typeface="Inter"/>
              </a:rPr>
              <a:t>Highest Risk Drivers: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175" y="4905375"/>
            <a:ext cx="1238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Inter"/>
              </a:rPr>
              <a:t>Lowest Risk Drivers: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475" y="2381250"/>
            <a:ext cx="111323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7475" y="2705100"/>
            <a:ext cx="495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Month-to-Month </a:t>
            </a:r>
            <a:r>
              <a:rPr sz="1050" b="0" i="0" u="none">
                <a:solidFill>
                  <a:srgbClr val="DC2626"/>
                </a:solidFill>
                <a:latin typeface="Inter SemiBold"/>
              </a:rPr>
              <a:t>42.71%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3305175"/>
            <a:ext cx="495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One Year 11.27%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905250"/>
            <a:ext cx="495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Two Year </a:t>
            </a:r>
            <a:r>
              <a:rPr sz="1050" b="0" i="0" u="none">
                <a:solidFill>
                  <a:srgbClr val="059669"/>
                </a:solidFill>
                <a:latin typeface="Inter SemiBold"/>
              </a:rPr>
              <a:t>2.83%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Payment Method and Contract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7935" y="6524625"/>
            <a:ext cx="55066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09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24325"/>
            <a:ext cx="11125200" cy="119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52700"/>
            <a:ext cx="2638425" cy="1343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2552700"/>
            <a:ext cx="2638425" cy="1343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552700"/>
            <a:ext cx="2638425" cy="1343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2552700"/>
            <a:ext cx="2638425" cy="1343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2133600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 Medium"/>
              </a:rPr>
              <a:t>Analysis confirms customer churn is not evenly distributed. Four specific segment characteristics exhibit elevated churn rates: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98" y="4362450"/>
            <a:ext cx="1092449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lus Jakarta Sans"/>
              </a:rPr>
              <a:t>Analytical Pattern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676775"/>
            <a:ext cx="1064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40AF"/>
                </a:solidFill>
                <a:latin typeface="Inter"/>
              </a:rPr>
              <a:t>Tenure, demographics, payment methods, and contract types clearly identify high-risk segments requiring proactive retention focus. Note: These metrics represent observed patterns in the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2790825"/>
            <a:ext cx="1343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DC2626"/>
                </a:solidFill>
                <a:latin typeface="Inter"/>
              </a:rPr>
              <a:t>0–12 MONTH TENURE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000375"/>
            <a:ext cx="14954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DC2626"/>
                </a:solidFill>
                <a:latin typeface="Plus Jakarta Sans ExtraBold"/>
              </a:rPr>
              <a:t>47.44%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3842" y="3495675"/>
            <a:ext cx="1277391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NEW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8600" y="2790825"/>
            <a:ext cx="1285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DC2626"/>
                </a:solidFill>
                <a:latin typeface="Inter"/>
              </a:rPr>
              <a:t>ELECTRONIC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9062" y="3000375"/>
            <a:ext cx="15049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DC2626"/>
                </a:solidFill>
                <a:latin typeface="Plus Jakarta Sans ExtraBold"/>
              </a:rPr>
              <a:t>45.29%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1392" y="3495675"/>
            <a:ext cx="136028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PAYMENT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1812" y="2790825"/>
            <a:ext cx="125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DC2626"/>
                </a:solidFill>
                <a:latin typeface="Inter"/>
              </a:rPr>
              <a:t>MONTH-TO-MONTH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0850" y="3000375"/>
            <a:ext cx="14192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DC2626"/>
                </a:solidFill>
                <a:latin typeface="Plus Jakarta Sans ExtraBold"/>
              </a:rPr>
              <a:t>42.71%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029" y="3495675"/>
            <a:ext cx="121071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CONTRACT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6937" y="2790825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DC2626"/>
                </a:solidFill>
                <a:latin typeface="Inter"/>
              </a:rPr>
              <a:t>SENIOR CITIZENS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3000375"/>
            <a:ext cx="14382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0" i="0" u="none">
                <a:solidFill>
                  <a:srgbClr val="DC2626"/>
                </a:solidFill>
                <a:latin typeface="Plus Jakarta Sans ExtraBold"/>
              </a:rPr>
              <a:t>41.68%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7326" y="3495675"/>
            <a:ext cx="106397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DEMOGRAPHIC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386262"/>
            <a:ext cx="149423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High-Risk Customer 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6510" y="6524625"/>
            <a:ext cx="52208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78856"/>
            <a:ext cx="5486400" cy="7191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78856"/>
            <a:ext cx="5486400" cy="7191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50393"/>
            <a:ext cx="5486400" cy="933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150393"/>
            <a:ext cx="5486400" cy="933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236243"/>
            <a:ext cx="5486400" cy="933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236243"/>
            <a:ext cx="5486400" cy="933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2440781"/>
            <a:ext cx="513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OVERALL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621756"/>
            <a:ext cx="51339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Overall customer churn is approximately 26.54%.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700" y="2440781"/>
            <a:ext cx="513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F4444"/>
                </a:solidFill>
                <a:latin typeface="Inter"/>
              </a:rPr>
              <a:t>LIFECYCLE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621756"/>
            <a:ext cx="51339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New customers (0–12 months) reach the highest churn risk at 47.44%.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3312318"/>
            <a:ext cx="513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0B981"/>
                </a:solidFill>
                <a:latin typeface="Inter"/>
              </a:rPr>
              <a:t>LONG-TERM 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493293"/>
            <a:ext cx="51339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Long-term customers (37+ months) have the lowest churn rate at 11.93%.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3312318"/>
            <a:ext cx="513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Inter"/>
              </a:rPr>
              <a:t>DEMOGRAPHIC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3493293"/>
            <a:ext cx="5133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Senior citizens show a higher churn rate (41.68%) than non-senior citizens (23.61%).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398168"/>
            <a:ext cx="513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F4444"/>
                </a:solidFill>
                <a:latin typeface="Inter"/>
              </a:rPr>
              <a:t>PAYMENT FRICTION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579143"/>
            <a:ext cx="51339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Electronic Check users have the highest payment churn at 45.29%.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2700" y="4398168"/>
            <a:ext cx="513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B5CF6"/>
                </a:solidFill>
                <a:latin typeface="Inter"/>
              </a:rPr>
              <a:t>CONTRACT 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2700" y="4579143"/>
            <a:ext cx="5133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Month-to-Month contracts churn at 42.71%, vs Two-Year contracts at 2.83%.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Key Business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5085" y="6524625"/>
            <a:ext cx="49351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19350"/>
            <a:ext cx="3581400" cy="1209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419350"/>
            <a:ext cx="3581400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419350"/>
            <a:ext cx="3581400" cy="1209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19525"/>
            <a:ext cx="3581400" cy="1209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3819525"/>
            <a:ext cx="3581400" cy="1209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3819525"/>
            <a:ext cx="3581400" cy="1209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426" y="2657475"/>
            <a:ext cx="293396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Early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990850"/>
            <a:ext cx="3105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Focus retention efforts during the initial 12 months to address early customer churn risks.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5751" y="2657475"/>
            <a:ext cx="296396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Contract Incentives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3425" y="2990850"/>
            <a:ext cx="3105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Encourage adoption of long-term one-year and two-year contract options to lock in stability.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7651" y="2657475"/>
            <a:ext cx="296396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Payment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2990850"/>
            <a:ext cx="3105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Monitor and incentivize transition away from high-risk Electronic Check payment methods.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4801" y="4057650"/>
            <a:ext cx="2983966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Targeted Offers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4391025"/>
            <a:ext cx="3105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Provide specialized retention offers prioritized for high-risk customer segments.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4326" y="4057650"/>
            <a:ext cx="293396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High-Risk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3425" y="4391025"/>
            <a:ext cx="3105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Direct retention resources specifically to new customers, seniors, and Month-to-Month users.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7651" y="4057650"/>
            <a:ext cx="296396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Value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4391025"/>
            <a:ext cx="3105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40AF"/>
                </a:solidFill>
                <a:latin typeface="Inter"/>
              </a:rPr>
              <a:t>Use identified churn patterns to enhance overall customer retention and maximize lifetime value.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681287"/>
            <a:ext cx="215651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425" y="2681287"/>
            <a:ext cx="187076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5" y="2681287"/>
            <a:ext cx="187076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081462"/>
            <a:ext cx="168026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3425" y="4081462"/>
            <a:ext cx="215651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5325" y="4081462"/>
            <a:ext cx="187076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Business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6035" y="6524625"/>
            <a:ext cx="51256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457700"/>
            <a:ext cx="11125200" cy="657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333625"/>
            <a:ext cx="5391150" cy="1857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371725"/>
            <a:ext cx="5391150" cy="1781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038475"/>
            <a:ext cx="2371725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0650" y="3038475"/>
            <a:ext cx="2371725" cy="371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505200"/>
            <a:ext cx="2371725" cy="371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0650" y="3505200"/>
            <a:ext cx="2371725" cy="371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425" y="4657725"/>
            <a:ext cx="10725150" cy="2571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These insights enable the business to improve retention, reduce churn, and increase customer lifetime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604" y="2609850"/>
            <a:ext cx="480450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Summary of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704" y="2647950"/>
            <a:ext cx="4784504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Strategic Focus Areas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6837" y="4705350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2633662"/>
            <a:ext cx="167729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8225" y="300037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Overall customer churn rate stands at approximately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26.54%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343275"/>
            <a:ext cx="4610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Tenure, demographics, payment methods, and contract types display significant churn differences.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2671762"/>
            <a:ext cx="186779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" y="3038475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" y="3381375"/>
            <a:ext cx="1333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6510" y="6524625"/>
            <a:ext cx="52208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700439"/>
            <a:ext cx="11125200" cy="19702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707606"/>
            <a:ext cx="11125200" cy="1704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5160" y="1495196"/>
            <a:ext cx="10735531" cy="181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1" i="0" u="none" dirty="0">
                <a:solidFill>
                  <a:srgbClr val="64748B"/>
                </a:solidFill>
                <a:latin typeface="Inter"/>
              </a:rPr>
              <a:t>END-TO-END ANALYTICS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5160" y="3945731"/>
            <a:ext cx="10904956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Analytical Tools Used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969543"/>
            <a:ext cx="168026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6431" y="4479131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50" y="4822031"/>
            <a:ext cx="22240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Python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2481" y="4479131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33787" y="4822031"/>
            <a:ext cx="22240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Pandas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818" y="4479131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34125" y="4822031"/>
            <a:ext cx="22240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Matplotlib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4106" y="4479131"/>
            <a:ext cx="3048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34462" y="4822031"/>
            <a:ext cx="22240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Seaborn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19100"/>
            <a:ext cx="116586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Analytical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6510" y="6524625"/>
            <a:ext cx="52208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SLIDE 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7810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847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Algerian</vt:lpstr>
      <vt:lpstr>Arial</vt:lpstr>
      <vt:lpstr>Calibri</vt:lpstr>
      <vt:lpstr>Inter</vt:lpstr>
      <vt:lpstr>Inter Black</vt:lpstr>
      <vt:lpstr>Inter Medium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Vikash Rao</cp:lastModifiedBy>
  <cp:revision>3</cp:revision>
  <dcterms:created xsi:type="dcterms:W3CDTF">2013-01-27T09:14:16Z</dcterms:created>
  <dcterms:modified xsi:type="dcterms:W3CDTF">2026-09-11T06:30:46Z</dcterms:modified>
  <cp:category/>
</cp:coreProperties>
</file>